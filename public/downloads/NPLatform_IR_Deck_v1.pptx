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18288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25880" y="502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NPLatform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·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1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가 가격을 매기고, 시장이 거래한다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A8C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국내 유일 AI 기반 NPL 거래 플랫폼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부실채권 시장의 정보 비대칭을 해소하고, AI 가치평가로 거래를 가속하며, 글로벌 자본(XRF/Ripple)과 연결합니다.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2697480" cy="86868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074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₩5.7조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" y="5532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감정평가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5029200"/>
            <a:ext cx="2697480" cy="86868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5074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20440" y="5532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금융기관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5029200"/>
            <a:ext cx="2697480" cy="86868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5074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55080" y="5532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최단 Exit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5029200"/>
            <a:ext cx="2697480" cy="86868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5074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89720" y="5532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정확도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217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Kihyun, Ph.D.  ·  CEO, TRANSFARMER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6217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ceo@transfarmer.co.kr  ·  www.nplatform.ai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60-SECOND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NPLatform 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부실채권 시장 ₩43조 — AI 가 가치를 매기고, 시장이 즉시 거래한다.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502920" cy="50292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214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검증된 트랙션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베타 6개월 만에 등록 감정평가 ₩5.7조 · 784건 · 회원 금융기관 130+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18288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828800"/>
            <a:ext cx="365760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2103120"/>
            <a:ext cx="502920" cy="5029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84648" y="21214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1금융 신뢰 확보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697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KB국민은행 여신관리부 위탁테스트 (7개월 ₩1.5억) · NH·toss·K뱅크 파트너십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74736" y="18288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4736" y="1828800"/>
            <a:ext cx="365760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3336" y="2103120"/>
            <a:ext cx="502920" cy="5029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43416" y="21214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양면 시장 우위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03336" y="2697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공급: 130+ 금융기관  /  수요: 땅집고옥션 12,000명 + 月 89만 트래픽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69080"/>
            <a:ext cx="365760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343400"/>
            <a:ext cx="502920" cy="50292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36168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단순한 BM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49377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거래수수료 0.5~1.5% (양면) + Premium 가입료 + 분석 리포트 매출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15968" y="406908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15968" y="4069080"/>
            <a:ext cx="3657600" cy="54864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44568" y="4343400"/>
            <a:ext cx="502920" cy="502920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44568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184648" y="436168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글로벌 Upside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44568" y="49377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XRF/Ripple MOU · 한국 NPL → 글로벌 RWA 토큰화 (PoC $200K 진행)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74736" y="406908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4736" y="4069080"/>
            <a:ext cx="3657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03336" y="43434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03336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043416" y="436168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3년 매출 ₩253억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03336" y="49377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₩17.6억 → 2027 ₩61억 → 2028 ₩253억 · 영업이익률 65.3%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Price, Digitize, and Globalize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spc="-1000" kern="0" dirty="0">
                <a:solidFill>
                  <a:srgbClr val="A8C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Distressed Real-World Assets.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부실채권을 AI 로 정확히 가격 매기고, 디지털 거래소로 유동성을 만들고,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RWA 자본시장과 연결하는 핀테크 인프라.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3657600" cy="1554480"/>
          </a:xfrm>
          <a:prstGeom prst="rect">
            <a:avLst/>
          </a:prstGeom>
          <a:solidFill>
            <a:srgbClr val="0F2540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572000"/>
            <a:ext cx="54864" cy="155448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4937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Pricing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100억+ 부동산 빅데이터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30만 건/년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07408" y="4572000"/>
            <a:ext cx="3657600" cy="1554480"/>
          </a:xfrm>
          <a:prstGeom prst="rect">
            <a:avLst/>
          </a:prstGeom>
          <a:solidFill>
            <a:srgbClr val="0F2540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4572000"/>
            <a:ext cx="54864" cy="155448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36008" y="4937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Marketplace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36008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거래 프로세스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36008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33일 평균 Exit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66176" y="4572000"/>
            <a:ext cx="3657600" cy="1554480"/>
          </a:xfrm>
          <a:prstGeom prst="rect">
            <a:avLst/>
          </a:prstGeom>
          <a:solidFill>
            <a:srgbClr val="0F2540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4572000"/>
            <a:ext cx="54864" cy="1554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94776" y="4937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RWA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94776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 · Ripple · RLUSD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94776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$1.2T 아시아 NPL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60196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한국 NPL 시장은 ₩43조 — 그러나 정보 비대칭으로 거래는 막혀있다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은행은 매각이 늦고, 매입사는 가격을 못 매기며, 글로벌 자본은 진입조차 못 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매각사 (은행·2금융권) 페인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₩43조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0" y="2514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 12.5조 + 비은행 31.2조 누적 NPL — BIS 비율 압박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+76%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연체율 '23.3월 2.01% → '24.3월 3.55% 급등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8600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매각 소요 — 외주 가치평가 의존, 표준화 부재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₩1,500만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4846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1건 외주 비용 — 인력·비용·일정 모두 비효율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548640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828800"/>
            <a:ext cx="548640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매입사·투자자 페인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468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25146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20년 경매 낙찰자 손실률 — '감'에 의존한 투자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246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30만 건/년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역대 최대 경매 물량 — 옥석 가리기 불가능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40233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흩어진 매물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21040" y="40690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은행·AMC·대부업체 별도 채널 — 한 곳에서 비교 불가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4800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글로벌 차단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21040" y="4846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대부업법 · USD 460k 자본요건 — 외국인 투자자 진입 불가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"데이터는 있어도 판단(Decision)할 알고리즘이 없고, 거래소(Marketplace)도 없다."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 SIZE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한국 ₩145.8조 TAM + 글로벌 $16T RWA Upside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대한민국 부동산 담보부 부실채권은 매년 ₩47.1조 매각 시장 — 글로벌 NPL 까지 합치면 $1.2T+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94360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· ₩145.8조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· 한국 NPL+경매+공매 총액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5212080" cy="2926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7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· ₩78.8조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4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Available · NPL 매각+경공매 낙찰액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3611880"/>
            <a:ext cx="4480560" cy="17373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069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₩5조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매각자문 ₩4.7조 + 경공매 컨설팅 ₩3,170억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828800"/>
            <a:ext cx="4892040" cy="420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UPSIDE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아시아·글로벌 RWA 시장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29260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$1.2T+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NPL Market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+ 일본 + 동남아 누적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0" y="363931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0" y="3639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RWA Token Market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3913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자본 디지털화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435254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$5.8B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0" y="43525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RWA TVL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4626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미만 — 인프라 구축기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0" y="506577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$280T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0" y="50657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Illiquid Assets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53400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 $326T 포함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국내 유일 원스톱 NPL 거래 플랫폼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공급자 (금융기관) 와 매입사를 직결하는 5단계 디지털 거래 프로세스 — 평균 33일 Exit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14884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286000"/>
            <a:ext cx="594360" cy="59436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NPL 등록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자동 채움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Excel/PDF 1분 업로드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9718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752344" y="20116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52344" y="2011680"/>
            <a:ext cx="214884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9584" y="2286000"/>
            <a:ext cx="594360" cy="59436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43784" y="2971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분석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43784" y="34290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회수율 · 낙찰가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 자동 산출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1184" y="29718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047488" y="20116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7488" y="2011680"/>
            <a:ext cx="214884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24728" y="2286000"/>
            <a:ext cx="594360" cy="59436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24728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38928" y="2971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매수 의향서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8928" y="34290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자금 증빙 + LOI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 제출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96328" y="29718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342632" y="20116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42632" y="2011680"/>
            <a:ext cx="214884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2286000"/>
            <a:ext cx="594360" cy="59436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9872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34072" y="2971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비공개 협의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34072" y="34290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중개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양면 가격 합의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91472" y="29718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637776" y="2011680"/>
            <a:ext cx="2148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37776" y="2011680"/>
            <a:ext cx="214884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15016" y="2286000"/>
            <a:ext cx="594360" cy="59436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15016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29216" y="2971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거래 성사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729216" y="34290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전자계약 + ESCROW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채권 양도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663440"/>
            <a:ext cx="11274552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33일 Exit 실증 사례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원금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5623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₩37억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852928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52928" y="5623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2·3회 연속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065776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65776" y="5623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33일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278624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낙찰가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78624" y="5623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₩39억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491472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491472" y="5623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+₩2억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AI QUANT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100억+ 빅데이터 위에서 작동하는 정량 의사결정 엔진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시장은 '감(感)' · NPLatform 은 데이터 — 90% 이상 예측 정확도 확보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9260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12801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100억+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 금융 빅데이터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경매·공매·실거래·등기·공시·뉴스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29260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828800"/>
            <a:ext cx="54864" cy="12801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9202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80가지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03320" y="2423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조건 자동 검증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권리관계·선순위·물건 상태 자동 필터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29260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54864" cy="12801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10초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완료 시간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6p · Report 30p+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3246120"/>
            <a:ext cx="29260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3246120"/>
            <a:ext cx="54864" cy="12801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337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703320" y="3840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낙찰가 예측 정확도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4114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3개월 평균 오차 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1828800"/>
            <a:ext cx="498348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Decision Scores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949440" y="2926080"/>
            <a:ext cx="4617720" cy="566928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2926080"/>
            <a:ext cx="54864" cy="566928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Score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06840" y="2971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시세 (감정가가 아닌 현 시점 시세)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3611880"/>
            <a:ext cx="4617720" cy="566928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3611880"/>
            <a:ext cx="54864" cy="566928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0684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권리·시장·유동성 4팩터 종합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9440" y="4297680"/>
            <a:ext cx="4617720" cy="566928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4297680"/>
            <a:ext cx="54864" cy="566928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Bid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06840" y="4343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낙찰가 + 신뢰구간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49440" y="4983480"/>
            <a:ext cx="4617720" cy="566928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0" y="4983480"/>
            <a:ext cx="54864" cy="566928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5029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06840" y="5029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회수율 + Monte Carlo 시뮬레이션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TRACTION (BETA · 6 MONTHS)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베타 6개월 — ₩5.7조 등록, 33일 Exit, 130+ 회원사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9월 정식 론칭 · 단 6개월 만에 검증 완료된 시장 흡수력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97480" cy="73152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784건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NPL 건수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1828800"/>
            <a:ext cx="269748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2103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₩5.7조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56432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감정평가 총액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828800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828800"/>
            <a:ext cx="2697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2103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₩1.4조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18504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근저당 설정금액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43416" y="1828800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43416" y="182880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0576" y="2103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₩1.17조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80576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대출원금 총액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거래 가속화 지표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10312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거래 마감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6개월 대비 5x 가속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800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10312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시간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892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보고서 1주일+ → 즉시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5303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10312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비용 절감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5394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₩1,500만 외주 → 클릭 1회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5806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103120" y="5852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오차범위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31920" y="5897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3개월 낙찰물건 평균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3657600"/>
            <a:ext cx="5486400" cy="2651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플랫폼 트래픽 (땅집고옥션 통합)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6520" y="4297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89만+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86968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트래픽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46520" y="4800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13만+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86968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방문자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4652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1.2만+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86968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가입자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46520" y="5806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4분 19초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869680" y="5852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체류시간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698480" y="5852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+236%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INSTITUTIONAL TRACK RECORD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1금융 · 2금융 · 인터넷은행 · AMC 동시 진입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금융권 핵심 플레이어들이 NPLatform 의 기술과 시장을 이미 검증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579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157984" cy="3657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KB국민은행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2026.04~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188366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여신관리부 위탁테스트 계약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부실채권 평가시스템 구축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금융위 위탁테스트 7개월 ₩1.5억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52344" y="1828800"/>
            <a:ext cx="21579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52344" y="1828800"/>
            <a:ext cx="2157984" cy="3657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504" y="18288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89504" y="23317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NH농협중앙회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89504" y="27889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2024~2025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89504" y="3154680"/>
            <a:ext cx="188366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65개 지점 부실채권 분석 PoC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플랫폼 PoC 완료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47488" y="1828800"/>
            <a:ext cx="21579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7488" y="1828800"/>
            <a:ext cx="2157984" cy="3657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18288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84648" y="23317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84648" y="27889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2025.10~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84648" y="3154680"/>
            <a:ext cx="188366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 파트너사 선정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경매 서비스 In-app 제공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Mini-App Challenge 수상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42632" y="1828800"/>
            <a:ext cx="21579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42632" y="1828800"/>
            <a:ext cx="2157984" cy="3657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8288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79792" y="23317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Kbank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79792" y="27889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2026.02~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79792" y="3154680"/>
            <a:ext cx="188366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공동사업 파트너 선정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1,500만+ MAU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광고/마케팅 신사업 런칭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37776" y="1828800"/>
            <a:ext cx="21579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7776" y="1828800"/>
            <a:ext cx="2157984" cy="36576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74936" y="18288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74936" y="23317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XRPL · Ripple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74936" y="278892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2026.01~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74936" y="3154680"/>
            <a:ext cx="188366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+ 글로벌 PoC ($200K)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비지분 투자기업 후보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RWA 인프라 연계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120640"/>
            <a:ext cx="11274552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회원 금융기관 130+ (검증·인증 완료)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5532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1금융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83080" y="5532120"/>
            <a:ext cx="9784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KB국민은행 · 토스뱅크 · iM금융그룹 · K뱅크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5779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2금융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783080" y="5779008"/>
            <a:ext cx="9784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MG새마을금고 · 수협 · 신협 · 산림조합 · 모아저축은행 · 한국투자저축은행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60258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AMC·대부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83080" y="6025896"/>
            <a:ext cx="9784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UAMCO · MG신용정보 · 투자마블 · 바른NPL · LF자산운용 · 30+ 대부업체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KB 위탁테스트 (FLAGSHIP REFERENCE)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KB국민은행 여신관리부 — 7개월 ₩1.5억 Pilot 진행 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금융위 인증 위탁테스트 — 1금융권 NPL 평가 시스템 구축의 표준 만들기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21208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21208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CONTRACT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KB국민은행 여신관리부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위탁사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주식회사 국민은행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기간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400" y="3429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2026.04.06 ~ 2026.10.31 (7개월)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 분야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3931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여신관리 · 부실채권 분석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규모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57400" y="44348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₩1억 4,964만 (인건비 1.12억 + 클라우드 0.25억 + API 0.12억)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수혜 부서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57400" y="4937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여신심사 · 리스크관리 · 자산건전성 · NPL 운용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828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7-MONTH ROADMAP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194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월별 단계별 수행 계획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26480" y="2807208"/>
            <a:ext cx="274320" cy="27432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04월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구체화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264408"/>
            <a:ext cx="274320" cy="27432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05월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838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· Infra 준비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721608"/>
            <a:ext cx="274320" cy="27432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06월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8388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1차 커스터마이징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4178808"/>
            <a:ext cx="274320" cy="27432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114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07월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838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고도화 + Pilot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4636008"/>
            <a:ext cx="274320" cy="27432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08월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8388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부서 테스트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5093208"/>
            <a:ext cx="274320" cy="27432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5029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· 09월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18388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표준화 + QA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5550408"/>
            <a:ext cx="274320" cy="27432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· 10월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83880" y="5486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시범서비스 + 최종보고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 KPIs:  100+ 케이스 검증  ·  -50% 분석시간 단축  ·  KB 본계약 전환 + 전 금융권 확산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GOVERNMENT 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대한민국 부동산 금융 4대 기관에서 모두 인증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금융위 · 국토부 · KAMCO · 한국언론진흥재단 — 기술과 사업성 동시 검증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201168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TIER-1 FINANCIAL REGULATOR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금융위원회 · 금융감독원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위탁테스트 기업 선정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금융기술 내재화 사업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테스트베드 비용 수혜기업 ('26.04)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2025.09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4864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828800"/>
            <a:ext cx="73152" cy="20116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9659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VALIDATION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55080" y="2194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국토교통부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606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부동산서비스산업 창업경진대회 최우수상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0175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국토부 장관상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 분야 정부 인증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4420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2025.08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4864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23360"/>
            <a:ext cx="73152" cy="20116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605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AMC VALIDATION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4389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한국자산관리공사 (KAMCO)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800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TechBlaze 우수상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제안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 AMC 검증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2025.09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023360"/>
            <a:ext cx="54864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023360"/>
            <a:ext cx="73152" cy="201168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1605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TECH AWARD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4389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한국언론진흥재단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5080" y="4800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스타트업 장려상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52120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 뉴스 AI 분석 서비스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빅카인즈 (BIGKinds) 협력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4420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2025.09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DEMAND-SIDE MOAT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땅집고옥션 — 매수자 풀 12,000명 + 月 89만 트래픽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조선일보 땅집고가 운영하는 국내 최대 경매·NPL 미디어 채널 → CAC 거의 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4206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11480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매수자 풀 (활성)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12,000+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경매·NPL 활성 투자자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 200만+ MAU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조선일보 땅집고 — 국내 1위 부동산 미디어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3회 NPL 기사 + 유튜브 45만 구독자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 STACK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매수자 유입 5대 채널 — 평균 CAC ≈ 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2606040"/>
            <a:ext cx="69037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606040"/>
            <a:ext cx="73152" cy="6035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조선일보 땅집고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200만+ MAU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0" y="2651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3회 NPL 기사 (아웃링크) · 유튜브 45만+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319272"/>
            <a:ext cx="69037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319272"/>
            <a:ext cx="73152" cy="60350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364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K뱅크 In-App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364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1,500만+ MAU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33649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공동사업 파트너 (2026.02~) · AI 경매 서비스 + 광고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4032504"/>
            <a:ext cx="69037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4032504"/>
            <a:ext cx="73152" cy="60350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0782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Toss In-App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407822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Tier-1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40782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 파트너사 선정 (2025.10~) · AI 경매 in app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4745736"/>
            <a:ext cx="69037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4745736"/>
            <a:ext cx="73152" cy="603504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7914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건대 부동산학과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47914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석사 500+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0" y="47914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 채널 — 매년 신규 매입사 펀넬 진입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5458968"/>
            <a:ext cx="6903720" cy="6035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5458968"/>
            <a:ext cx="73152" cy="603504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5504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NPL 인플루언서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55046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1만+ CRM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78240" y="55046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유튜브·카카오 채널·오픈채팅방 · 리타게팅 광고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BUYER DEMAND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매입사 수요 — 6개 핵심 자산군 + ₩50억~₩300억 Avg Ticket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인터뷰 30+ — 매입사들이 원하는 NPL 의 형태가 명확히 분화됨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73152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 관련 NPL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건설 중단 사업장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수도권 골조 단계 사업장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저가 매입 + 마무리 준공 → 매각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82880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828800"/>
            <a:ext cx="36576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노유자시설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8848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₩50~60억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8848" y="27889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요양원 (서울·경기남부)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초고령사회 진입 + 정부지원 안정성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74736" y="182880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828800"/>
            <a:ext cx="3657600" cy="73152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숙박시설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7616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₩150~300억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57616" y="27889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명동·종로·강남 숙박/오피스/상가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중국인 무비자 + 관광객 회복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23360"/>
            <a:ext cx="36576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시행부지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 할인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수도권 3종 일반주거 이상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분양시장 불확실 → 저가 토지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15968" y="402336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15968" y="4023360"/>
            <a:ext cx="3657600" cy="73152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수익형 건물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98848" y="4617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꼬마빌딩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98848" y="49834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주요권역 1,000평+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토지희소성 + 리모델링 가치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74736" y="402336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4736" y="4023360"/>
            <a:ext cx="36576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57616" y="4617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₩50억 이하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57616" y="49834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화성·평택·김포 산업거점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임대수익 안정 + 규제 적음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Take-Rate 중심 + 가입료 + Premium 분석 — 거래 1건당 ARPU ₩5,400만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매각사·매입사 양면 수수료가 핵심 매출 — 거래량 늘수록 매출 비례 상승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97480" cy="73152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비중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거래 수수료 (메인)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매각사 0.5~0.9% + 매입사 0.5~1.5% (낙찰가 기준)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전속 등록 시 매각사 0.3% 우대 / 평균 거래액 ₩30억 → ₩5,100만/건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9272" y="18288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1828800"/>
            <a:ext cx="269748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02152" y="2606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비중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가입 및 이용료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02152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매각사 ₩100만/월 · 투자그룹 ₩200만/월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02152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6개월 무료 (사업자/명함 인증) → 7개월차 자동 전환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81344" y="18288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1828800"/>
            <a:ext cx="26974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64224" y="2606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비중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64224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분석 리포트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64224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₩50만~₩300만/건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64224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KB·자산운용사 커스터마이징 / 권리분석 / 경매 시뮬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43416" y="18288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43416" y="1828800"/>
            <a:ext cx="2697480" cy="73152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6296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226296" y="26060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비중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26296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광고·마케팅 (땅집고옥션)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26296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K뱅크 In-app · 인플루언서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26296" y="4069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트래픽으로 광고 매출 자연 발생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983480"/>
            <a:ext cx="11274552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074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Per-Deal Unit Economics (평균 거래액 ₩30억 기준)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5486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₩2,100만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0080" y="58978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매각사 수수료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0807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0.7% 평균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29000" y="5486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₩3,000만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429000" y="58978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매입사 수수료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29000" y="60807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 평균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5486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₩300만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217920" y="58978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리포트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60807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옵션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006840" y="5486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₩5,400만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006840" y="58978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ARPU/Deal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06840" y="60807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1건 평균 매출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TRIPLE REVENUE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Cashflow + Scale-up + Global Upside — 3개 수익 트랙 동시 가동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매출 영역 (B2C·B2B) + 글로벌 확장 (XRF Global RWA) 가 모두 가동 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· B2C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Cashflow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라인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31927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거래수수료 (1만+ 회원)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68503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멤버십 (₩30만/150만/년)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405079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경매·NPL 컨설팅 (1.6만+ 가입자)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조선일보 땅집고 · 인플루언서 · 땅집고옥션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15968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15968" y="1828800"/>
            <a:ext cx="36576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56048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B2B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98848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Scale-up SaaS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98848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라인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44568" y="3319272"/>
            <a:ext cx="118872" cy="1188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평가 SaaS (KB 모델)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44568" y="3685032"/>
            <a:ext cx="118872" cy="1188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K뱅크 In-app 광고 (1,500만+)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44568" y="4050792"/>
            <a:ext cx="118872" cy="1188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부동산 컨설팅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98848" y="4937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8848" y="5212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KB국민은행 · K뱅크 · Toss · 자산운용사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74736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4736" y="1828800"/>
            <a:ext cx="3657600" cy="45720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11896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814816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GLOBAL RWA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Upside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357616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라인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03336" y="331927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86216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토큰화 (XRPL MPT)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03336" y="368503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86216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RLUSD 분배·ODL Corridor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403336" y="405079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86216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 누적 AUM $184M+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57616" y="4937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57616" y="5212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· 자산운용사 · PE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3대 거시 흐름 수렴 — AI · NPL 공급 · RWA 인프라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Pull + Tech Push 모두 임계점 — 12~18개월 선점 기회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429768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PULL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한국 NPL 공급 폭증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3246120" cy="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73552"/>
            <a:ext cx="109728" cy="10972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 NPL 매각 ₩47조/년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76472"/>
            <a:ext cx="109728" cy="10972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연체율 76% 급등 ('23→'24)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279392"/>
            <a:ext cx="109728" cy="109728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비은행권 NPL 31.2조 (2배 증가)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9377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규제 + 부실 자산 증가 → 1금융 + 2금융 양면 매각 압박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1828800"/>
            <a:ext cx="36576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1828800"/>
            <a:ext cx="73152" cy="4297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PUSH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가치평가 임계점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44568" y="2926080"/>
            <a:ext cx="3246120" cy="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3273552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100억+ 빅데이터 정형화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90288" y="3776472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감정평가 5x 정확도 (자체 검증)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90288" y="4279392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10초 분석 + 90% 정확도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44568" y="49377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외주 보고서 모델 → AI 자동화로 비용 98% 절감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74736" y="1828800"/>
            <a:ext cx="36576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4736" y="1828800"/>
            <a:ext cx="73152" cy="429768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3336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UPSIDE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03336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RWA 인프라 성숙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403336" y="2926080"/>
            <a:ext cx="3246120" cy="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9056" y="3273552"/>
            <a:ext cx="109728" cy="109728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31936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XRPL MPT (XLS-33) Native RWA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49056" y="3776472"/>
            <a:ext cx="109728" cy="109728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31936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RLUSD · ODL · MAS 라이선스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49056" y="4279392"/>
            <a:ext cx="109728" cy="109728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31936" y="4114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BUIDL · JPM Onyx 진입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03336" y="49377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기관 자본 RWA 진입 → 한국 NPL 첫 case study 선점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 Logic + Marketplace 동시 보유 — 국내 유일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타사는 '데이터' 만 보유 · NPLatform 은 '가치평가 로직 + AI Engine + Marketplace' 모두 보유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수준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규모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100억건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30억건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20억건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5억건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Marketplace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정보만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정보만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가치평가 로직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Quant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단순예측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금융기관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2608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KB·NH·toss·K뱅크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구독제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구독제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755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RWA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26080" y="4572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XRF·Ripple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87552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5029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타깃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26080" y="5029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기관+개인+글로벌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투자자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8952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투자자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87552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입문자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926080" y="1828800"/>
            <a:ext cx="2377440" cy="3657600"/>
          </a:xfrm>
          <a:prstGeom prst="rect">
            <a:avLst/>
          </a:prstGeom>
          <a:ln w="25400">
            <a:solidFill>
              <a:srgbClr val="2251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"데이터는 있어도 가치평가 로직은 없다. NPLatform 은 둘 다 있다."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GLOBAL UPSIDE · XRF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한국 NPL → 글로벌 RWA Two-Token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Labs MOU · 글로벌 PoC $200K 진행 중 — 한국발 첫 글로벌 RWA Case Study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4023360"/>
          </a:xfrm>
          <a:prstGeom prst="rect">
            <a:avLst/>
          </a:prstGeom>
          <a:solidFill>
            <a:srgbClr val="0F2540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5394960" cy="45720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SECURITY TOKEN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경제적 권리 담지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Pte Ltd SPV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3558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성격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3355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 Product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7398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규제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3739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s.274/275 면제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1239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41239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변동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507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4507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Pool (간접)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892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· Accredited 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2760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5276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XRPL MPT (XLS-33)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828800"/>
            <a:ext cx="5394960" cy="4023360"/>
          </a:xfrm>
          <a:prstGeom prst="rect">
            <a:avLst/>
          </a:prstGeom>
          <a:solidFill>
            <a:srgbClr val="0F2540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828800"/>
            <a:ext cx="5394960" cy="45720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STABLECOIN (RLUSD)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분배·결제 통화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8368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(RLUSD)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3558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성격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355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E-money / DPT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37398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규제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3739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 승인 발행자 (XRF 책임 무)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41239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41239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1.00 고정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4507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4507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발행사 자체 준비자산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4892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유통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2104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유통 가능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52760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21040" y="5276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XRPL IOU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"NPL 의 가치는 Security Token 이 담고, 수익의 안정성은 Stablecoin 이 배달한다."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60196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XRF 3-YEAR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Korea PoC → Asia Scale — Y3 200건 / AUM $184M / 50,000+ LPs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NPL 시장 집중 (Y1~2) → 일본·동남아 확장 (Y3+) — Ripple과 함께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Y1 ·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Korea PoC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097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01368" y="2971800"/>
            <a:ext cx="1097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01368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01368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62656" y="2971800"/>
            <a:ext cx="1097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62656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437083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 Foundation 설립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478231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NPL Pool 토큰 발행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519379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MOU 체결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560527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5~10명 첫 청약 → 회수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15968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15968" y="1828800"/>
            <a:ext cx="36576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8848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Y2 · 2027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76288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8848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Korea Scale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498848" y="2971800"/>
            <a:ext cx="1097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98848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50건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0136" y="2971800"/>
            <a:ext cx="1097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0136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0136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21424" y="2971800"/>
            <a:ext cx="1097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21424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21424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98848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44568" y="4370832"/>
            <a:ext cx="118872" cy="1188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$30M 클로징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44568" y="4782312"/>
            <a:ext cx="118872" cy="1188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LP 진입 시작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44568" y="5193792"/>
            <a:ext cx="118872" cy="1188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#5~#20 연속 발행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44568" y="5605272"/>
            <a:ext cx="118872" cy="1188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번째 시장 (Vietnam) 검토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74736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74736" y="1828800"/>
            <a:ext cx="3657600" cy="45720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57616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Y3 · 2028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735056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★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57616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Asia Multi-Market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8357616" y="2971800"/>
            <a:ext cx="1097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57616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357616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200건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518904" y="2971800"/>
            <a:ext cx="1097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18904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518904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$184M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680192" y="2971800"/>
            <a:ext cx="1097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680192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0680192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57616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403336" y="437083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31936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pilot 가동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403336" y="478231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31936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일본·싱가포르 도입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403336" y="519379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31936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PE·SWF 참여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403336" y="560527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31936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RLUSD 누적 $250M+ 분배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3-YEAR FINANCIAL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₩17.6억 → ₩61억 → ₩253억 — 영업이익률 65.3% 도달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안정적 매출 + B2B 금융기관 SaaS 가속화 + RWA 글로벌 확장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₩17.6억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영업이익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₩4.1억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23.3%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믹스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2139696" cy="32004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70916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65%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79776" y="4709160"/>
            <a:ext cx="987552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9776" y="4709160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30%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67328" y="4709160"/>
            <a:ext cx="164592" cy="32004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매출 + KB 위탁 + XRF PoC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15968" y="1828800"/>
            <a:ext cx="365760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498848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98848" y="2788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98848" y="30175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₩61억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498848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영업이익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98848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₩27.4억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44768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이익률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44768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44.9%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8848" y="44348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믹스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98848" y="4709160"/>
            <a:ext cx="1152144" cy="32004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4709160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35%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50992" y="4709160"/>
            <a:ext cx="164592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50%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96912" y="4709160"/>
            <a:ext cx="493776" cy="32004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본격 매출 + 글로벌 RWA 시작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74736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74736" y="1828800"/>
            <a:ext cx="3657600" cy="54864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357616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57616" y="2788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57616" y="30175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₩253억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8357616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영업이익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57616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₩165억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003536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이익률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003536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65.3%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57616" y="44348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믹스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357616" y="4709160"/>
            <a:ext cx="658368" cy="32004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57616" y="470916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20%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015984" y="4709160"/>
            <a:ext cx="164592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15984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50%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661904" y="4709160"/>
            <a:ext cx="987552" cy="32004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661904" y="4709160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30%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357616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글로벌 확장 + 반복 매출 폭증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 — 데이터·부동산·금융 전 영역 시니어 리더십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삼정KPMG · 삼성서울병원 · KB증권 · 한국신용평가 · 노무라 출신 핵심 6명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김기현 Ph.D.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성균관대 / 한양대 박사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91440" cy="9144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26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삼정KPMG 전략컨설팅 이사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291840"/>
            <a:ext cx="91440" cy="9144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00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삼성서울병원 정보전략실 책임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91440" cy="9144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74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 한국대표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15968" y="182880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15968" y="1828800"/>
            <a:ext cx="365760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98848" y="2240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조윤경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98848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북경대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44568" y="3017520"/>
            <a:ext cx="91440" cy="914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2926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KB증권 해외선물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44568" y="3291840"/>
            <a:ext cx="91440" cy="914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3200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CALYON Bank FIM Sales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44568" y="3566160"/>
            <a:ext cx="91440" cy="914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474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TV조선 사회부 기자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74736" y="182880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4736" y="1828800"/>
            <a:ext cx="365760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7616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57616" y="2240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박성필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357616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성균관대 빅데이터 석사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03336" y="3017520"/>
            <a:ext cx="91440" cy="9144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86216" y="2926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 이사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03336" y="3291840"/>
            <a:ext cx="91440" cy="9144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86216" y="3200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(주)앤서 개발이사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403336" y="3566160"/>
            <a:ext cx="91440" cy="91440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86216" y="3474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(주)디에스앤텍 연구소 차장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02336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023360"/>
            <a:ext cx="365760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안영효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40080" y="4846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건국대 부동산학 석사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" y="5212080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1206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바른NPL 의장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" y="5486400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53949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전주대 부동산학과 객원교수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5800" y="5760720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5669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법률사무소 글 자문위원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15968" y="402336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15968" y="4023360"/>
            <a:ext cx="365760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98848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498848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신지안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498848" y="4846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건국대 부동산학 석사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44568" y="5212080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27448" y="51206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청담어썸공인중개사 대표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44568" y="5486400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27448" y="53949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한국신용평가정보 AMC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44568" y="5760720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27448" y="5669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한신평신용정보 AMC본부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74736" y="402336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74736" y="4023360"/>
            <a:ext cx="365760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57616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357616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이봉석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357616" y="4846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서울대 / 동경대 도시공학 박사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403336" y="5212080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86216" y="51206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땅집고옥션 부문 부대표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403336" y="5486400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86216" y="53949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노무라 부동산팀 팀장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403336" y="5760720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86216" y="5669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삼정KPMG 부동산본부 이사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USE OF FUNDS · PRE-A 라운드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Pre-A 10억 — 즉각적 매출 가속 + AI SaaS 고도화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확보 자금 ₩12.4억+ 기존 운영 + Pre-A ₩10억 추가로 12개월 런웨이 확보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자금 사용 계획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120640" cy="155448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03120" y="26060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영업조직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33832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금융권 파이프라인 전담팀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고액 자산가 컨설팅팀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51206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605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03120" y="4160520"/>
            <a:ext cx="3566160" cy="388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모델 / SaaS 고도화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4549140"/>
            <a:ext cx="3566160" cy="388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예측 정확도 향상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금융기관 맞춤 SaaS 개발/운영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120640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03120" y="4937760"/>
            <a:ext cx="3566160" cy="388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마케팅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5326380"/>
            <a:ext cx="3566160" cy="388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 → 구독 → 컨설팅 퍼널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마케팅 조직 구축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548640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965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286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 확보 + Pre-A = 22.4억+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46520" y="2926080"/>
            <a:ext cx="5120640" cy="64008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926080"/>
            <a:ext cx="73152" cy="64008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9992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29400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₩6억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55280" y="2971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₩1억 + Seed ₩2.5억 (소풍벤처스) + SI ₩2.5억 (조선일보)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46520" y="3639312"/>
            <a:ext cx="5120640" cy="64008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3639312"/>
            <a:ext cx="73152" cy="64008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37124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비희석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29400" y="3959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₩12.4억+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0" y="36850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매출 ₩4.2억 + TIPS R&amp;D ₩3억 + 신보보증 ₩2.5억 + 지원사업 ₩1.7억+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46520" y="4352544"/>
            <a:ext cx="5120640" cy="64008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4352544"/>
            <a:ext cx="73152" cy="64008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425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4672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₩10억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55280" y="439826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진행 — 영업조직 + AI/SaaS + 마케팅 (12개월 런웨이)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46520" y="5065776"/>
            <a:ext cx="5120640" cy="64008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5065776"/>
            <a:ext cx="73152" cy="64008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5138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 매출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29400" y="5385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₩4.9억+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55280" y="51114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₩1.2억 + XRF ₩2.5억 + 건대 ₩0.5억 + 숙명 ₩0.3억 + 서비스 ₩0.9억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ROADMAP &amp; EXIT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 한국 → Asia AI 금융 인프라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후 IPO · 글로벌 핀테크 M&amp;A · 금융기관 M&amp;A 3대 Exit 시나리오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3474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2023~2025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유치 + PMF 검증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410712"/>
            <a:ext cx="118872" cy="1188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+ Seed + SI 라운드 6억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867912"/>
            <a:ext cx="118872" cy="1188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03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금융권 PoC 다수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325112"/>
            <a:ext cx="118872" cy="1188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60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R&amp;D 선정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782312"/>
            <a:ext cx="118872" cy="1188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17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AI/데이터바우처 공급기업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15968" y="182880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1828800"/>
            <a:ext cx="73152" cy="347472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98848" y="2286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98848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영업·세일즈 집중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44568" y="341071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KB·K뱅크 사업화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44568" y="386791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703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강의 + SaaS 연계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44568" y="432511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4160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영업 매출 구조 확보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44568" y="4782312"/>
            <a:ext cx="118872" cy="118872"/>
          </a:xfrm>
          <a:prstGeom prst="ellipse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4617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 글로벌 PoC 검증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74736" y="182880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74736" y="1828800"/>
            <a:ext cx="73152" cy="347472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2027~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57616" y="2286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A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57616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안정 + RWA 본격화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03336" y="341071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86216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금융권 B2B 사업 확대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03336" y="386791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86216" y="3703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RWA 사업 본격화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403336" y="432511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86216" y="4160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유저 기반 확대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03336" y="4782312"/>
            <a:ext cx="118872" cy="118872"/>
          </a:xfrm>
          <a:prstGeom prst="ellipse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86216" y="4617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파트너 매출 확대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486400"/>
            <a:ext cx="11274552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SCENARIOS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금융기관 M&amp;A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" y="6080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KB·NH·신한·하나·우리 1금융권 인수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62272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글로벌 핀테크 M&amp;A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462272" y="6080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Ripple·BlackRock·JPM 글로벌 RWA 시장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84464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IPO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84464" y="6080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글로벌 핀테크 기업 상장 (KOSDAQ → 글로벌)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0" kern="0" dirty="0">
                <a:solidFill>
                  <a:srgbClr val="225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INTELLECTUAL PROPERTY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8건 출원 + 상표 3건 + 통상실시권 1건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가치평가 로직과 부동산 데이터 인프라를 법적으로 보호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출원 (8건)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6949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퀀트 기반 부동산 경공매 투자결정지원 시스템 및 방법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10-2025-0144240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78040" y="2423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6949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기반 농지시세 예측시스템 및 방법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10-2023-0117886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804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6949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농가대출 평가시스템 및 평가방법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10-2023-0117883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8040" y="3429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6949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농지특성에 적합한 농작물추천시스템 및 방법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10-2023-0117890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34840"/>
            <a:ext cx="6949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강화학습모델 활용 생산플랜트 기초플랜 생성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34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10-2024-0164632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4434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937760"/>
            <a:ext cx="6949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937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생산플랜트 자동화 견적 생성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10-2024-0164611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78040" y="4937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440680"/>
            <a:ext cx="69494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440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토지 융합 생산플랜트 수익 시뮬레이션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5440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10-2024-0164618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5440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92440" y="1828800"/>
            <a:ext cx="3657600" cy="4297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+ 상표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7532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(등록·통상실시권)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7532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빈집 추정 시스템 및 방법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75320" y="29260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(한국부동산원 통상실시권)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10-2277291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7532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상표 (출원 3건)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75320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트랜스파머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7532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땅집고옥션 (2건)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7532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NPLatform (출원 예정)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75320" y="5029200"/>
            <a:ext cx="329184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00A9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75320" y="5349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3200" dirty="0"/>
          </a:p>
        </p:txBody>
      </p:sp>
      <p:sp>
        <p:nvSpPr>
          <p:cNvPr id="48" name="Shape 46"/>
          <p:cNvSpPr/>
          <p:nvPr/>
        </p:nvSpPr>
        <p:spPr>
          <a:xfrm>
            <a:off x="457200" y="6583680"/>
            <a:ext cx="112745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Confidential · May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· PRE-A 라운드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₩10억 Pre-A — 12개월 런웨이로 매출 ₩61억 도달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위탁 본계약 + K뱅크 광고 사업 + XRF Series A 트리거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97480" cy="2743200"/>
          </a:xfrm>
          <a:prstGeom prst="rect">
            <a:avLst/>
          </a:prstGeom>
          <a:solidFill>
            <a:srgbClr val="0F2540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269748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검증된 트랙션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베타 6개월 ₩5.7조 등록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회원 금융기관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33일 Exit 실증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2011680"/>
            <a:ext cx="2697480" cy="2743200"/>
          </a:xfrm>
          <a:prstGeom prst="rect">
            <a:avLst/>
          </a:prstGeom>
          <a:solidFill>
            <a:srgbClr val="0F2540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2011680"/>
            <a:ext cx="2697480" cy="54864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1금융권 이미 진입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02152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위탁테스트 ₩1.5억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NH·toss·K뱅크 파트너십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금융위·KAMCO 인증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2011680"/>
            <a:ext cx="2697480" cy="2743200"/>
          </a:xfrm>
          <a:prstGeom prst="rect">
            <a:avLst/>
          </a:prstGeom>
          <a:solidFill>
            <a:srgbClr val="0F2540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2011680"/>
            <a:ext cx="26974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64224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Unfair Advantage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4224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조선일보 땅집고 200만 MAU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12,000+ 매수자 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≈ 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43416" y="2011680"/>
            <a:ext cx="2697480" cy="2743200"/>
          </a:xfrm>
          <a:prstGeom prst="rect">
            <a:avLst/>
          </a:prstGeom>
          <a:solidFill>
            <a:srgbClr val="0F2540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3416" y="2011680"/>
            <a:ext cx="2697480" cy="5486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6296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5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226296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Upside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26296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MOU + $200K PoC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$1.2T 아시아 NPL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$16T 2030 RWA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120640"/>
            <a:ext cx="11274552" cy="12801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120640"/>
            <a:ext cx="91440" cy="1280160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212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0" kern="0" dirty="0">
                <a:solidFill>
                  <a:srgbClr val="A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Korea's First AI-NPL Marketplace · Connect to Global RWA via Ripple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ceo@transfarmer.co.kr  ·  010-6594-0314  ·  www.nplatform.ai  ·  www.zipgoai.com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60196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Investor Deck ·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972800" y="6601968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9F4"/>
          </a:solidFill>
          <a:ln w="12700">
            <a:solidFill>
              <a:srgbClr val="00A9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0" kern="0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NPL FINANCE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-1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가 가격을 매기고,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i="1" spc="-1500" kern="0" dirty="0">
                <a:solidFill>
                  <a:srgbClr val="A8C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시장이 즉시 거래한다.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NPL 시장의 비효율을 해소하고, 글로벌 RWA 자본과 연결하는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디지털 인프라를 함께 만들어갑시다.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5394960"/>
            <a:ext cx="11274552" cy="960120"/>
          </a:xfrm>
          <a:prstGeom prst="rect">
            <a:avLst/>
          </a:prstGeom>
          <a:solidFill>
            <a:srgbClr val="0F2540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Kihyun, Ph.D.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8521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TRANSFARMER · Founder, NPLatform · XRF 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ceo@transfarmer.co.kr  ·  010-6594-0314  ·  www.nplatform.ai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60196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NPLatform · Confidential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트랜스파머 (TRANSFARMER Inc.)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NPLatform Investor Deck</dc:title>
  <dc:subject>PptxGenJS Presentation</dc:subject>
  <dc:creator>Kim Kihyun, Ph.D. · CEO, TRANSFARMER</dc:creator>
  <cp:lastModifiedBy>Kim Kihyun, Ph.D. · CEO, TRANSFARMER</cp:lastModifiedBy>
  <cp:revision>1</cp:revision>
  <dcterms:created xsi:type="dcterms:W3CDTF">2026-05-02T13:57:01Z</dcterms:created>
  <dcterms:modified xsi:type="dcterms:W3CDTF">2026-05-02T13:57:01Z</dcterms:modified>
</cp:coreProperties>
</file>